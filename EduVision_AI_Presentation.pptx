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Outlook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8E-4D18-8890-4DA9C9FF07B8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8E-4D18-8890-4DA9C9FF07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8E-4D18-8890-4DA9C9FF07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8E-4D18-8890-4DA9C9FF07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Likely to Complete</c:v>
                </c:pt>
                <c:pt idx="1">
                  <c:v>At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8E-4D18-8890-4DA9C9FF0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Rating (out of 5)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Clarity</c:v>
                </c:pt>
                <c:pt idx="1">
                  <c:v>Engagement</c:v>
                </c:pt>
                <c:pt idx="2">
                  <c:v>Support</c:v>
                </c:pt>
                <c:pt idx="3">
                  <c:v>Overall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4.5999999999999996</c:v>
                </c:pt>
                <c:pt idx="2">
                  <c:v>4.4000000000000004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F-4612-A37E-166B34CEE4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D6-4657-9D45-ACEA0236415F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D6-4657-9D45-ACEA0236415F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D6-4657-9D45-ACEA0236415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24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D6-4657-9D45-ACEA023641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48-4766-968C-33C6B5FBAD4C}"/>
              </c:ext>
            </c:extLst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48-4766-968C-33C6B5FBAD4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Current Path</c:v>
                </c:pt>
                <c:pt idx="1">
                  <c:v>With AI Plan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48-4766-968C-33C6B5FBA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565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introduce EduVision AI as a machine learning powered platform for educational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so the audience knows what to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problem: educators lack early, data-driven visibility into student outcomes and teaching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EduVision AI as the answer, built around three pillars: predict, personalize,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platform's scale: three ML models, 95% accuracy, real-time analytics, and AI-driven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end-to-end pipeline: data collection, feature engineering, ML scoring, and the resulting dashboard/recommendations.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into the Completion Prediction model, its inputs, and a sample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into the Feedback Prediction model, its inputs, and a sample rating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into the Dropout Prediction model and a sample risk-tier distribution across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flagship personalization feature: a short quiz that feeds a recommendation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audience concrete examples of what the quiz actually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flow: quiz answers become model inputs, and the engine outputs a structured, personalized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concrete example so the audience sees exactly what a student receives.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up the platform's feature set beyond the three core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value proposition and mention the technology stack behind EduVision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substance section with where EduVision AI can go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thanks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2011680"/>
            <a:ext cx="5486400" cy="548640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550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Educational Analytics Powered by Machine Learning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3840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339101"/>
            <a:ext cx="8046720" cy="1407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educators predict student success, improve teaching effectiveness, and reduce dropout rates using Artificial Intelligence.</a:t>
            </a:r>
          </a:p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-Heemaal Jaglan(Jr. Data Analyst)</a:t>
            </a:r>
          </a:p>
        </p:txBody>
      </p:sp>
      <p:sp>
        <p:nvSpPr>
          <p:cNvPr id="10" name="Text 7"/>
          <p:cNvSpPr/>
          <p:nvPr/>
        </p:nvSpPr>
        <p:spPr>
          <a:xfrm>
            <a:off x="8229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22960" y="5532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661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566160" y="5532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093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309360" y="5532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52560" y="5029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052560" y="5532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EduVision AI — from the problem it solves to where it's headed next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74520" y="17830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 Education Today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543800" y="17830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EduVision AI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852928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74520" y="28529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&amp; Architecture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285292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852928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43800" y="28529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Predictive Models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922776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74520" y="3922776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Assessment &amp; Quiz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09360" y="392277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3922776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43800" y="3922776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 Engine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499262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992624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874520" y="4992624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&amp; Tech Stack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09360" y="499262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37960" y="4992624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E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543800" y="4992624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Roadmap &amp; Closing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in Education Today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often discover problems too late to act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Dropout Detection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084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are often identified only after they've already disengaged or withdrawn.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8745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6744" y="214884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052" y="23271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66744" y="30175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Performance Signals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66744" y="3703320"/>
            <a:ext cx="2084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lack real-time visibility into which students are struggling and why.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8745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4808" y="2148840"/>
            <a:ext cx="685800" cy="6858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327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4808" y="30175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Feedback Loops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64808" y="3703320"/>
            <a:ext cx="2084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quality is rarely measured using data-driven, objective methods.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874520"/>
            <a:ext cx="2542032" cy="32918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62872" y="2148840"/>
            <a:ext cx="685800" cy="68580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1180" y="23271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2872" y="301752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Guidance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262872" y="3703320"/>
            <a:ext cx="20848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receive study advice personalized to their own habits and pace.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EduVision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turns everyday academic data into early, personalized action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16224F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25856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44876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2004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370332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trained ML models forecast completion, feedback and dropout risk before it's too late.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9659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16224F"/>
          </a:solidFill>
          <a:ln/>
        </p:spPr>
      </p:sp>
      <p:sp>
        <p:nvSpPr>
          <p:cNvPr id="11" name="Shape 8"/>
          <p:cNvSpPr/>
          <p:nvPr/>
        </p:nvSpPr>
        <p:spPr>
          <a:xfrm>
            <a:off x="4626864" y="225856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059" y="244876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2004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26864" y="370332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AI-powered quiz turns each student's habits into a tailored improvement plan.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01584" y="1965960"/>
            <a:ext cx="3456432" cy="3383280"/>
          </a:xfrm>
          <a:prstGeom prst="roundRect">
            <a:avLst>
              <a:gd name="adj" fmla="val 2703"/>
            </a:avLst>
          </a:prstGeom>
          <a:solidFill>
            <a:srgbClr val="16224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2258568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811" y="244876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2004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357616" y="3703320"/>
            <a:ext cx="2953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give educators the visibility to act with confidence.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Streamlit-based platform combining three predictive models with an AI recommendation engine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391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8144" y="17830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20391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575304" y="2743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7830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20391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73368" y="2743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34272" y="1783080"/>
            <a:ext cx="2542032" cy="1554480"/>
          </a:xfrm>
          <a:prstGeom prst="roundRect">
            <a:avLst>
              <a:gd name="adj" fmla="val 5294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2039112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71432" y="274320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 Services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6634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841748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737360" y="4297680"/>
            <a:ext cx="21762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Prediction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370832" y="42976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26864" y="46634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172" y="484174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68112" y="4297680"/>
            <a:ext cx="21762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Prediction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101584" y="42976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357616" y="46634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4841748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98864" y="4297680"/>
            <a:ext cx="21762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Prediction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academic data to actionable, real-time insight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581912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180136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018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assignments, quizzes &amp; classroom interaction data.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35204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74820" y="1581912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1801368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7482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657600" y="2651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657600" y="33832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are cleaned and shaped into model-ready features.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52044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09460" y="1581912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204" y="1801368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0946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492240" y="2651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492240" y="33832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trained models score completion, feedback &amp; dropout risk.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352044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4400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944100" y="1581912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1844" y="1801368"/>
            <a:ext cx="438912" cy="43891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9441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9326880" y="26517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Recommendations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9326880" y="338328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and students see results and next-step guidance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Spotlight: Completion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how many students will successfully finish a course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how many students are expected to successfully complete a course using engagement, assignment submissions and quiz performance.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41879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 rate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457200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4074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assessment scores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9560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7914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engagement frequency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53400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51755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 on course materials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8338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  •   Student Success Analysis   •   Performance Forecasting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46520" y="14173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Output</a:t>
            </a:r>
            <a:endParaRPr lang="en-US" sz="13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858000" y="210312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Spotlight: Feedback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instructor feedback ratings from classroom signals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instructor feedback ratings using student engagement, assessment performance and classroom interactions.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41879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Student-instructor interaction frequency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457200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407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grading performance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9560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7914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attendance patterns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53400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5175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instructor communication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8338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Performance   •   Teaching Quality   •   Student Satisfaction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46520" y="14173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Output</a:t>
            </a:r>
            <a:endParaRPr lang="en-US" sz="13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720840" y="2148840"/>
          <a:ext cx="4572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Spotlight: Dropout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students early enough to intervene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20189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students who are likely to leave the course early and receive AI-powered intervention recommendations.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41879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023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login decline trends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58368" y="457200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44074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assignments / deadlines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8368" y="4956048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7914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quiz performance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58368" y="53400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5175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engagement over time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8338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   •   Student Retention   •   AI Recommendations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46520" y="141732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20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Risk Distribution</a:t>
            </a:r>
            <a:endParaRPr lang="en-US" sz="13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6720840" y="2148840"/>
          <a:ext cx="4572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5486400" cy="5486400"/>
          </a:xfrm>
          <a:prstGeom prst="ellipse">
            <a:avLst/>
          </a:prstGeom>
          <a:solidFill>
            <a:srgbClr val="1E3A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85800"/>
            <a:ext cx="822960" cy="8229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89977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personalized, 5-question quiz that analyzes a student's study habits and instantly generates a tailored improvement plan.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60604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6224F"/>
          </a:solidFill>
          <a:ln/>
        </p:spPr>
      </p:sp>
      <p:sp>
        <p:nvSpPr>
          <p:cNvPr id="8" name="Shape 5"/>
          <p:cNvSpPr/>
          <p:nvPr/>
        </p:nvSpPr>
        <p:spPr>
          <a:xfrm>
            <a:off x="987552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3" y="30467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Take the Quiz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87552" y="411480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~5 quick questions about their study routine, habits and engagement.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840480"/>
            <a:ext cx="256032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462272" y="260604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6224F"/>
          </a:solidFill>
          <a:ln/>
        </p:spPr>
      </p:sp>
      <p:sp>
        <p:nvSpPr>
          <p:cNvPr id="14" name="Shape 9"/>
          <p:cNvSpPr/>
          <p:nvPr/>
        </p:nvSpPr>
        <p:spPr>
          <a:xfrm>
            <a:off x="4718304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725" y="3046781"/>
            <a:ext cx="307238" cy="3072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18304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Analysis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718304" y="411480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AI compares the responses against trained ML models and behavior patterns.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3840480"/>
            <a:ext cx="256032" cy="274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193024" y="2606040"/>
            <a:ext cx="3456432" cy="2743200"/>
          </a:xfrm>
          <a:prstGeom prst="roundRect">
            <a:avLst>
              <a:gd name="adj" fmla="val 3333"/>
            </a:avLst>
          </a:prstGeom>
          <a:solidFill>
            <a:srgbClr val="16224F"/>
          </a:solidFill>
          <a:ln/>
        </p:spPr>
      </p:sp>
      <p:sp>
        <p:nvSpPr>
          <p:cNvPr id="20" name="Shape 13"/>
          <p:cNvSpPr/>
          <p:nvPr/>
        </p:nvSpPr>
        <p:spPr>
          <a:xfrm>
            <a:off x="8449056" y="28803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5477" y="3046781"/>
            <a:ext cx="307238" cy="30723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49056" y="36576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Personalized Plan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8449056" y="4114800"/>
            <a:ext cx="2953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generates a custom report of strengths, weaknesses and next steps.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Quiz: Sample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short questions capture the signals the AI needs — under 2 minutes to complete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83664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50085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31720" y="1783080"/>
            <a:ext cx="8961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how many hours do you study each day?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715768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816352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298277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1576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331720" y="2715768"/>
            <a:ext cx="8961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do you spend in extra </a:t>
            </a: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600" dirty="0"/>
              <a:t>urricular activities</a:t>
            </a: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0080" y="3648456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868680" y="3749040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39154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648456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331720" y="3648456"/>
            <a:ext cx="8961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Do you follow a particular time table or not?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40080" y="4581144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681728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101" y="484814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81144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331720" y="4581144"/>
            <a:ext cx="8961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study method do you rely on most — reading, videos, AI or notes?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640080" y="5513832"/>
            <a:ext cx="10881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614416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01" y="5780837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551383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331720" y="5513832"/>
            <a:ext cx="8961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time do you devote to sleeping ?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Recommendation Engine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quiz answers to a personalized study action plan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04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Inputs (Quiz)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277977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62432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study hours &amp; consistency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28269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12724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 extra </a:t>
            </a:r>
            <a:r>
              <a:rPr lang="en-US" sz="12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cirricular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activities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378561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6301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Proper time table or not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428853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13308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study method &amp; focus level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479145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6360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Time for sleeping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52578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44068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45920" y="5257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directly into EduVision AI's trained models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870448" y="37947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3913632"/>
            <a:ext cx="292608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55080" y="1691640"/>
            <a:ext cx="5193792" cy="4572000"/>
          </a:xfrm>
          <a:prstGeom prst="roundRect">
            <a:avLst>
              <a:gd name="adj" fmla="val 2000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29400" y="196596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046" y="2108606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1520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Output Report</a:t>
            </a:r>
            <a:endParaRPr lang="en-US" sz="15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26974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2624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(Pros)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32320" y="2944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is already doing well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538728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32320" y="34655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(Cons)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7132320" y="37856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may be holding progress back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379976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32320" y="43068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132320" y="46268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next steps to improve outcomes</a:t>
            </a:r>
            <a:endParaRPr lang="en-US" sz="11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221224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32320" y="5148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Trajectory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7132320" y="5468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course completion / risk outlook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Sample Personalized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student's AI-generated report actually looks like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1204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933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Aditi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2871216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6974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~2 hours/day, irregular schedule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310128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13639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Spends more time in sports.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3749040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57530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Not a frequent follower of a particular time table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4187952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401421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video-based learning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14400" y="4626864"/>
            <a:ext cx="82296" cy="8229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" y="44531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Sleeps for about 6 hours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4400" y="5120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Completion Probability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914400" y="5440680"/>
          <a:ext cx="42062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5897880" y="1691640"/>
            <a:ext cx="5650992" cy="4572000"/>
          </a:xfrm>
          <a:prstGeom prst="roundRect">
            <a:avLst>
              <a:gd name="adj" fmla="val 2000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72200" y="1874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Plan</a:t>
            </a:r>
            <a:endParaRPr lang="en-US" sz="15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42316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0" y="23957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83680" y="27249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grasp of concepts when focused; comfortable with video-based learning.</a:t>
            </a:r>
            <a:endParaRPr lang="en-US" sz="11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33756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0" y="33101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83680" y="363931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study schedule and low revision frequency increase forgetting risk.</a:t>
            </a:r>
            <a:endParaRPr lang="en-US" sz="11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425196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83680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583680" y="455371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daily 1-hour study block, add two weekly self-quizzes, and submit assignments a day early.</a:t>
            </a:r>
            <a:endParaRPr lang="en-US" sz="115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3492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53218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Trajectory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583680" y="56509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likelihood rises from 74% to an estimated 89% if the plan is followed.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Platform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EduVision AI experience complete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594360" cy="5943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1936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comfortable viewing experience for extended dashboard sessions.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39112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694" y="219364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Navigation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0916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views for Home, Completion, Feedback, Dropout &amp; the AI Quiz.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39112"/>
            <a:ext cx="594360" cy="5943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4174" y="219364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49640" y="30815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always-current metrics as new student data arrives.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79392"/>
            <a:ext cx="594360" cy="5943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214" y="44339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53218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generated, personalized next-step guidance.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056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4279392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3694" y="443392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09160" y="53218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Plotly-powered charts that educators can explore and filter.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321040" y="4023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9640" y="4279392"/>
            <a:ext cx="594360" cy="59436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174" y="443392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964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Predictive Models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49640" y="532180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ML models for completion, feedback and dropout.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EduVision AI?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49224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594360" cy="5943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4" y="19833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8288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academic outcomes before the semester ends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60120" y="2788920"/>
            <a:ext cx="594360" cy="5943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654" y="294345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78892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students requiring additional support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120" y="3749040"/>
            <a:ext cx="594360" cy="5943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654" y="39035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749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instructor effectiveness using AI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960120" y="4709160"/>
            <a:ext cx="594360" cy="594360"/>
          </a:xfrm>
          <a:prstGeom prst="ellipse">
            <a:avLst/>
          </a:prstGeom>
          <a:solidFill>
            <a:srgbClr val="E0E7F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654" y="48636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37360" y="47091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educational decisions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360920" y="1463040"/>
            <a:ext cx="4160520" cy="4846320"/>
          </a:xfrm>
          <a:prstGeom prst="roundRect">
            <a:avLst>
              <a:gd name="adj" fmla="val 2198"/>
            </a:avLst>
          </a:prstGeom>
          <a:solidFill>
            <a:srgbClr val="0F1B3D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6809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7680960" y="237744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9832" y="249631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66760" y="2377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680960" y="324612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9832" y="3364992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6676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7680960" y="411480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2" y="4233672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36676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7680960" y="498348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9832" y="5102352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366760" y="4983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single-course tool to an institution-wide early warning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220553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Institution-Wide Rollout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predictions across multiple courses, cohorts and departments.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2039112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220553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84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 Alerts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73952" y="2743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to advisors when dropout risk crosses a threshold.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325112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3" y="449153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0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 Dashboards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5029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 reporting for administrators on trends over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F1B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325112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373" y="449153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702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Recommendation Engine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73952" y="50292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learning quiz engine that refines plans as habits evolve.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965960"/>
            <a:ext cx="914400" cy="9144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2203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632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EduVision AI — Smart Educational Analytics Powered by Machine Learning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0" y="4480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1373</Words>
  <Application>Microsoft Office PowerPoint</Application>
  <PresentationFormat>Widescreen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EduVision AI - Smart Educational Analytics</dc:title>
  <dc:subject>PptxGenJS Presentation</dc:subject>
  <dc:creator>EduVision AI</dc:creator>
  <cp:lastModifiedBy>Heemaal Jaglan</cp:lastModifiedBy>
  <cp:revision>2</cp:revision>
  <dcterms:created xsi:type="dcterms:W3CDTF">2026-07-07T20:06:38Z</dcterms:created>
  <dcterms:modified xsi:type="dcterms:W3CDTF">2026-07-07T20:46:42Z</dcterms:modified>
</cp:coreProperties>
</file>